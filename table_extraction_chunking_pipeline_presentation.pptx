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9144000"/>
  <p:defaultTextStyle>
    <a:defPPr>
      <a:defRPr lang="en-GB"/>
    </a:defPPr>
    <a:lvl1pPr marL="342900" indent="-342900">
      <a:defRPr sz="2200"/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00000000-0000-0000-0000-000000000000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/Relationships>
</file>

<file path=ppt/notesMasters/_rels/notesMaster1.xml.rels><?xml version="1.0" encoding="UTF-8" standalone="yes"?>
<Relationships xmlns="http://schemas.openxmlformats.org/package/2006/relationships"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/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/>
          <p:nvPr>
            <p:ph type="body" idx="1"/>
          </p:nvPr>
        </p:nvSpPr>
        <p:spPr>
          <a:xfrm>
            <a:off x="685800" y="914400"/>
            <a:ext cx="7772400" cy="4572000"/>
          </a:xfrm>
        </p:spPr>
        <p:txBody>
          <a:bodyPr wrap="square"/>
          <a:lstStyle/>
          <a:p>
            <a:pPr lvl="0"/>
            <a:r>
              <a:rPr lang="en-GB" sz="2200"/>
              <a:t>This presentation explains the table-specific branch of the preprocessing pipeline.</a:t>
            </a:r>
            <a:endParaRPr lang="en-GB" sz="2200"/>
          </a:p>
          <a:p>
            <a:pPr lvl="0"/>
            <a:r>
              <a:rPr lang="en-GB" sz="2200"/>
              <a:t>The core point is that tables are not handled like normal narrative text.</a:t>
            </a:r>
            <a:endParaRPr lang="en-GB" sz="2200"/>
          </a:p>
          <a:p>
            <a:pPr lvl="0"/>
            <a:r>
              <a:rPr lang="en-GB" sz="2200"/>
              <a:t>Instead, the pipeline first decides whether a page is table-like, then extracts structure, then creates table-specific retrieval chunks.</a:t>
            </a:r>
            <a:endParaRPr lang="en-GB" sz="2200"/>
          </a:p>
          <a:p>
            <a:pPr lvl="0"/>
            <a:r>
              <a:rPr lang="en-GB" sz="2200"/>
              <a:t>Main implementation lives in preprocess_hybrid.py, table_extract.py, and table_chunking.py.</a:t>
            </a:r>
            <a:endParaRPr lang="en-GB" sz="2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/>
          <p:nvPr>
            <p:ph type="body" idx="1"/>
          </p:nvPr>
        </p:nvSpPr>
        <p:spPr>
          <a:xfrm>
            <a:off x="685800" y="914400"/>
            <a:ext cx="7772400" cy="4572000"/>
          </a:xfrm>
        </p:spPr>
        <p:txBody>
          <a:bodyPr wrap="square"/>
          <a:lstStyle/>
          <a:p>
            <a:pPr lvl="0"/>
            <a:r>
              <a:rPr lang="en-GB" sz="2200"/>
              <a:t>A normal text chunker assumes linear narrative flow.</a:t>
            </a:r>
            <a:endParaRPr lang="en-GB" sz="2200"/>
          </a:p>
          <a:p>
            <a:pPr lvl="0"/>
            <a:r>
              <a:rPr lang="en-GB" sz="2200"/>
              <a:t>Financial tables do not behave like that: the meaning of a number depends on its row label, column header, unit, and sometimes category grouping.</a:t>
            </a:r>
            <a:endParaRPr lang="en-GB" sz="2200"/>
          </a:p>
          <a:p>
            <a:pPr lvl="0"/>
            <a:r>
              <a:rPr lang="en-GB" sz="2200"/>
              <a:t>If the pipeline flattened tables into generic text chunks, retrieval would often return incomplete numeric evidence or lose the mapping between labels and values.</a:t>
            </a:r>
            <a:endParaRPr lang="en-GB" sz="2200"/>
          </a:p>
          <a:p>
            <a:pPr lvl="0"/>
            <a:r>
              <a:rPr lang="en-GB" sz="2200"/>
              <a:t>The table branch exists to preserve that structure before generating search-ready chunks.</a:t>
            </a:r>
            <a:endParaRPr lang="en-GB" sz="2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/>
          <p:nvPr>
            <p:ph type="body" idx="1"/>
          </p:nvPr>
        </p:nvSpPr>
        <p:spPr>
          <a:xfrm>
            <a:off x="685800" y="914400"/>
            <a:ext cx="7772400" cy="4572000"/>
          </a:xfrm>
        </p:spPr>
        <p:txBody>
          <a:bodyPr wrap="square"/>
          <a:lstStyle/>
          <a:p>
            <a:pPr lvl="0"/>
            <a:r>
              <a:rPr lang="en-GB" sz="2200"/>
              <a:t>The split happens at page level.</a:t>
            </a:r>
            <a:endParaRPr lang="en-GB" sz="2200"/>
          </a:p>
          <a:p>
            <a:pPr lvl="0"/>
            <a:r>
              <a:rPr lang="en-GB" sz="2200"/>
              <a:t>Narrative pages go down the standard chunking path.</a:t>
            </a:r>
            <a:endParaRPr lang="en-GB" sz="2200"/>
          </a:p>
          <a:p>
            <a:pPr lvl="0"/>
            <a:r>
              <a:rPr lang="en-GB" sz="2200"/>
              <a:t>Table pages go into process_table_pages(...), which builds structured tables and table retrieval chunks.</a:t>
            </a:r>
            <a:endParaRPr lang="en-GB" sz="2200"/>
          </a:p>
          <a:p>
            <a:pPr lvl="0"/>
            <a:r>
              <a:rPr lang="en-GB" sz="2200"/>
              <a:t>After both branches finish, all chunks are merged into a single chunks.parquet output.</a:t>
            </a:r>
            <a:endParaRPr lang="en-GB" sz="2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/>
          <p:nvPr>
            <p:ph type="body" idx="1"/>
          </p:nvPr>
        </p:nvSpPr>
        <p:spPr>
          <a:xfrm>
            <a:off x="685800" y="914400"/>
            <a:ext cx="7772400" cy="4572000"/>
          </a:xfrm>
        </p:spPr>
        <p:txBody>
          <a:bodyPr wrap="square"/>
          <a:lstStyle/>
          <a:p>
            <a:pPr lvl="0"/>
            <a:r>
              <a:rPr lang="en-GB" sz="2200"/>
              <a:t>The first classification pass uses cleaned text.</a:t>
            </a:r>
            <a:endParaRPr lang="en-GB" sz="2200"/>
          </a:p>
          <a:p>
            <a:pPr lvl="0"/>
            <a:r>
              <a:rPr lang="en-GB" sz="2200"/>
              <a:t>That is then corrected by raw-layout table heuristics because cleanup may remove visual spacing that originally made the table obvious.</a:t>
            </a:r>
            <a:endParaRPr lang="en-GB" sz="2200"/>
          </a:p>
          <a:p>
            <a:pPr lvl="0"/>
            <a:r>
              <a:rPr lang="en-GB" sz="2200"/>
              <a:t>OCR-specific signals can also force a page into the table branch when scanned pages look numeric and table-like.</a:t>
            </a:r>
            <a:endParaRPr lang="en-GB" sz="2200"/>
          </a:p>
          <a:p>
            <a:pPr lvl="0"/>
            <a:r>
              <a:rPr lang="en-GB" sz="2200"/>
              <a:t>Pages are then split into table_pages and text_pages.</a:t>
            </a:r>
            <a:endParaRPr lang="en-GB" sz="2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/>
          <p:nvPr>
            <p:ph type="body" idx="1"/>
          </p:nvPr>
        </p:nvSpPr>
        <p:spPr>
          <a:xfrm>
            <a:off x="685800" y="914400"/>
            <a:ext cx="7772400" cy="4572000"/>
          </a:xfrm>
        </p:spPr>
        <p:txBody>
          <a:bodyPr wrap="square"/>
          <a:lstStyle/>
          <a:p>
            <a:pPr lvl="0"/>
            <a:r>
              <a:rPr lang="en-GB" sz="2200"/>
              <a:t>This slide is here to contrast the table path with the normal path.</a:t>
            </a:r>
            <a:endParaRPr lang="en-GB" sz="2200"/>
          </a:p>
          <a:p>
            <a:pPr lvl="0"/>
            <a:r>
              <a:rPr lang="en-GB" sz="2200"/>
              <a:t>Text pages are segmented by headings and boundary patterns, then chunked by tokens.</a:t>
            </a:r>
            <a:endParaRPr lang="en-GB" sz="2200"/>
          </a:p>
          <a:p>
            <a:pPr lvl="0"/>
            <a:r>
              <a:rPr lang="en-GB" sz="2200"/>
              <a:t>This uses chunk_text_by_tokens(...) and the segment-aware splitter.</a:t>
            </a:r>
            <a:endParaRPr lang="en-GB" sz="2200"/>
          </a:p>
          <a:p>
            <a:pPr lvl="0"/>
            <a:r>
              <a:rPr lang="en-GB" sz="2200"/>
              <a:t>Table pages generally bypass this path entirely.</a:t>
            </a:r>
            <a:endParaRPr lang="en-GB" sz="2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/>
          <p:nvPr>
            <p:ph type="body" idx="1"/>
          </p:nvPr>
        </p:nvSpPr>
        <p:spPr>
          <a:xfrm>
            <a:off x="685800" y="914400"/>
            <a:ext cx="7772400" cy="4572000"/>
          </a:xfrm>
        </p:spPr>
        <p:txBody>
          <a:bodyPr wrap="square"/>
          <a:lstStyle/>
          <a:p>
            <a:pPr lvl="0"/>
            <a:r>
              <a:rPr lang="en-GB" sz="2200"/>
              <a:t>This is the core of the table pipeline.</a:t>
            </a:r>
            <a:endParaRPr lang="en-GB" sz="2200"/>
          </a:p>
          <a:p>
            <a:pPr lvl="0"/>
            <a:r>
              <a:rPr lang="en-GB" sz="2200"/>
              <a:t>For each table page, the system attempts to recover the table as a dataframe-like structure.</a:t>
            </a:r>
            <a:endParaRPr lang="en-GB" sz="2200"/>
          </a:p>
          <a:p>
            <a:pPr lvl="0"/>
            <a:r>
              <a:rPr lang="en-GB" sz="2200"/>
              <a:t>Then it stores tables_structured.parquet, table_facts.parquet, and table chunks for the main retrieval corpus.</a:t>
            </a:r>
            <a:endParaRPr lang="en-GB" sz="2200"/>
          </a:p>
          <a:p>
            <a:pPr lvl="0"/>
            <a:r>
              <a:rPr lang="en-GB" sz="2200"/>
              <a:t>This is the dual-representation design: one output preserves structure, another supports retrieval.</a:t>
            </a:r>
            <a:endParaRPr lang="en-GB" sz="2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/>
          <p:nvPr>
            <p:ph type="body" idx="1"/>
          </p:nvPr>
        </p:nvSpPr>
        <p:spPr>
          <a:xfrm>
            <a:off x="685800" y="914400"/>
            <a:ext cx="7772400" cy="4572000"/>
          </a:xfrm>
        </p:spPr>
        <p:txBody>
          <a:bodyPr wrap="square"/>
          <a:lstStyle/>
          <a:p>
            <a:pPr lvl="0"/>
            <a:r>
              <a:rPr lang="en-GB" sz="2200"/>
              <a:t>The pipeline is designed to be resilient.</a:t>
            </a:r>
            <a:endParaRPr lang="en-GB" sz="2200"/>
          </a:p>
          <a:p>
            <a:pPr lvl="0"/>
            <a:r>
              <a:rPr lang="en-GB" sz="2200"/>
              <a:t>It tries Camelot first because that gives the best structural recovery on machine-readable PDFs.</a:t>
            </a:r>
            <a:endParaRPr lang="en-GB" sz="2200"/>
          </a:p>
          <a:p>
            <a:pPr lvl="0"/>
            <a:r>
              <a:rPr lang="en-GB" sz="2200"/>
              <a:t>If Camelot returns nothing on an OCR page, OCR-table fallback is attempted.</a:t>
            </a:r>
            <a:endParaRPr lang="en-GB" sz="2200"/>
          </a:p>
          <a:p>
            <a:pPr lvl="0"/>
            <a:r>
              <a:rPr lang="en-GB" sz="2200"/>
              <a:t>If there is still no result, pdfplumber is used as a final fallback.</a:t>
            </a:r>
            <a:endParaRPr lang="en-GB" sz="2200"/>
          </a:p>
          <a:p>
            <a:pPr lvl="0"/>
            <a:r>
              <a:rPr lang="en-GB" sz="2200"/>
              <a:t>There is also special-case logic for staff-cost or remuneration tables that are split across multiple blocks on one page.</a:t>
            </a:r>
            <a:endParaRPr lang="en-GB" sz="2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/>
          <p:nvPr>
            <p:ph type="body" idx="1"/>
          </p:nvPr>
        </p:nvSpPr>
        <p:spPr>
          <a:xfrm>
            <a:off x="685800" y="914400"/>
            <a:ext cx="7772400" cy="4572000"/>
          </a:xfrm>
        </p:spPr>
        <p:txBody>
          <a:bodyPr wrap="square"/>
          <a:lstStyle/>
          <a:p>
            <a:pPr lvl="0"/>
            <a:r>
              <a:rPr lang="en-GB" sz="2200"/>
              <a:t>tables_structured.parquet stores the table-level metadata and text representations, including table_id, page_no, table_type, row count, column count, summary, markdown, and extraction diagnostics.</a:t>
            </a:r>
            <a:endParaRPr lang="en-GB" sz="2200"/>
          </a:p>
          <a:p>
            <a:pPr lvl="0"/>
            <a:r>
              <a:rPr lang="en-GB" sz="2200"/>
              <a:t>table_facts.parquet stores normalized row-column-value evidence for downstream table QA.</a:t>
            </a:r>
            <a:endParaRPr lang="en-GB" sz="2200"/>
          </a:p>
          <a:p>
            <a:pPr lvl="0"/>
            <a:r>
              <a:rPr lang="en-GB" sz="2200"/>
              <a:t>chunks.parquet gets one or more retrieval chunks representing that table.</a:t>
            </a:r>
            <a:endParaRPr lang="en-GB" sz="2200"/>
          </a:p>
          <a:p>
            <a:pPr lvl="0"/>
            <a:r>
              <a:rPr lang="en-GB" sz="2200"/>
              <a:t>This design separates storage for structure from storage for search.</a:t>
            </a:r>
            <a:endParaRPr lang="en-GB" sz="2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/>
          <p:nvPr>
            <p:ph type="body" idx="1"/>
          </p:nvPr>
        </p:nvSpPr>
        <p:spPr>
          <a:xfrm>
            <a:off x="685800" y="914400"/>
            <a:ext cx="7772400" cy="4572000"/>
          </a:xfrm>
        </p:spPr>
        <p:txBody>
          <a:bodyPr wrap="square"/>
          <a:lstStyle/>
          <a:p>
            <a:pPr lvl="0"/>
            <a:r>
              <a:rPr lang="en-GB" sz="2200"/>
              <a:t>Every table chunk remains linked to its source table.</a:t>
            </a:r>
            <a:endParaRPr lang="en-GB" sz="2200"/>
          </a:p>
          <a:p>
            <a:pPr lvl="0"/>
            <a:r>
              <a:rPr lang="en-GB" sz="2200"/>
              <a:t>The table_ref field ties retrieval results back to table_id.</a:t>
            </a:r>
            <a:endParaRPr lang="en-GB" sz="2200"/>
          </a:p>
          <a:p>
            <a:pPr lvl="0"/>
            <a:r>
              <a:rPr lang="en-GB" sz="2200"/>
              <a:t>Table chunks are always page-bounded in the normal design.</a:t>
            </a:r>
            <a:endParaRPr lang="en-GB" sz="2200"/>
          </a:p>
          <a:p>
            <a:pPr lvl="0"/>
            <a:r>
              <a:rPr lang="en-GB" sz="2200"/>
              <a:t>In newer outputs, extra metadata such as table_chunk_kind, row_start_idx, and row_end_idx helps analyze chunking behavior in more detail.</a:t>
            </a:r>
            <a:endParaRPr lang="en-GB" sz="22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/>
          <p:nvPr>
            <p:ph type="body" idx="1"/>
          </p:nvPr>
        </p:nvSpPr>
        <p:spPr>
          <a:xfrm>
            <a:off x="685800" y="914400"/>
            <a:ext cx="7772400" cy="4572000"/>
          </a:xfrm>
        </p:spPr>
        <p:txBody>
          <a:bodyPr wrap="square"/>
          <a:lstStyle/>
          <a:p>
            <a:pPr lvl="0"/>
            <a:r>
              <a:rPr lang="en-GB" sz="2200"/>
              <a:t>The extraction stage is separate from the chunking strategy.</a:t>
            </a:r>
            <a:endParaRPr lang="en-GB" sz="2200"/>
          </a:p>
          <a:p>
            <a:pPr lvl="0"/>
            <a:r>
              <a:rPr lang="en-GB" sz="2200"/>
              <a:t>The same extracted table can be chunked in different ways depending on the experiment or retrieval configuration.</a:t>
            </a:r>
            <a:endParaRPr lang="en-GB" sz="2200"/>
          </a:p>
          <a:p>
            <a:pPr lvl="0"/>
            <a:r>
              <a:rPr lang="en-GB" sz="2200"/>
              <a:t>This is useful for ablation studies because chunk granularity can be changed without changing the underlying table extraction.</a:t>
            </a:r>
            <a:endParaRPr lang="en-GB" sz="2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/>
          <p:nvPr>
            <p:ph type="body" idx="1"/>
          </p:nvPr>
        </p:nvSpPr>
        <p:spPr>
          <a:xfrm>
            <a:off x="685800" y="914400"/>
            <a:ext cx="7772400" cy="4572000"/>
          </a:xfrm>
        </p:spPr>
        <p:txBody>
          <a:bodyPr wrap="square"/>
          <a:lstStyle/>
          <a:p>
            <a:pPr lvl="0"/>
            <a:r>
              <a:rPr lang="en-GB" sz="2200"/>
              <a:t>Baseline is the simplest strategy.</a:t>
            </a:r>
            <a:endParaRPr lang="en-GB" sz="2200"/>
          </a:p>
          <a:p>
            <a:pPr lvl="0"/>
            <a:r>
              <a:rPr lang="en-GB" sz="2200"/>
              <a:t>It concatenates the natural-language summary, then the header-injected facts, then the markdown representation of the table into a single chunk.</a:t>
            </a:r>
            <a:endParaRPr lang="en-GB" sz="2200"/>
          </a:p>
          <a:p>
            <a:pPr lvl="0"/>
            <a:r>
              <a:rPr lang="en-GB" sz="2200"/>
              <a:t>This preserves a lot of information but often creates very large chunks.</a:t>
            </a:r>
            <a:endParaRPr lang="en-GB" sz="2200"/>
          </a:p>
          <a:p>
            <a:pPr lvl="0"/>
            <a:r>
              <a:rPr lang="en-GB" sz="2200"/>
              <a:t>In practice, this can dilute retrieval precision because the chunk contains more content than a query usually needs.</a:t>
            </a:r>
            <a:endParaRPr lang="en-GB" sz="22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/>
          <p:nvPr>
            <p:ph type="body" idx="1"/>
          </p:nvPr>
        </p:nvSpPr>
        <p:spPr>
          <a:xfrm>
            <a:off x="685800" y="914400"/>
            <a:ext cx="7772400" cy="4572000"/>
          </a:xfrm>
        </p:spPr>
        <p:txBody>
          <a:bodyPr wrap="square"/>
          <a:lstStyle/>
          <a:p>
            <a:pPr lvl="0"/>
            <a:r>
              <a:rPr lang="en-GB" sz="2200"/>
              <a:t>Row_preserving is designed to preserve the integrity of table rows.</a:t>
            </a:r>
            <a:endParaRPr lang="en-GB" sz="2200"/>
          </a:p>
          <a:p>
            <a:pPr lvl="0"/>
            <a:r>
              <a:rPr lang="en-GB" sz="2200"/>
              <a:t>Each row is rendered as a label-value line.</a:t>
            </a:r>
            <a:endParaRPr lang="en-GB" sz="2200"/>
          </a:p>
          <a:p>
            <a:pPr lvl="0"/>
            <a:r>
              <a:rPr lang="en-GB" sz="2200"/>
              <a:t>The chunker adds a compact prefix with page and columns, then packs rows into chunks while respecting the token limit.</a:t>
            </a:r>
            <a:endParaRPr lang="en-GB" sz="2200"/>
          </a:p>
          <a:p>
            <a:pPr lvl="0"/>
            <a:r>
              <a:rPr lang="en-GB" sz="2200"/>
              <a:t>If possible, it keeps the entire row intact rather than fragmenting it.</a:t>
            </a:r>
            <a:endParaRPr lang="en-GB" sz="22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/>
          <p:nvPr>
            <p:ph type="body" idx="1"/>
          </p:nvPr>
        </p:nvSpPr>
        <p:spPr>
          <a:xfrm>
            <a:off x="685800" y="914400"/>
            <a:ext cx="7772400" cy="4572000"/>
          </a:xfrm>
        </p:spPr>
        <p:txBody>
          <a:bodyPr wrap="square"/>
          <a:lstStyle/>
          <a:p>
            <a:pPr lvl="0"/>
            <a:r>
              <a:rPr lang="en-GB" sz="2200"/>
              <a:t>Two_stage first creates a header chunk containing the table prefix, column names, units if detected, and year labels if detected.</a:t>
            </a:r>
            <a:endParaRPr lang="en-GB" sz="2200"/>
          </a:p>
          <a:p>
            <a:pPr lvl="0"/>
            <a:r>
              <a:rPr lang="en-GB" sz="2200"/>
              <a:t>It then creates body chunks that contain the rows.</a:t>
            </a:r>
            <a:endParaRPr lang="en-GB" sz="2200"/>
          </a:p>
          <a:p>
            <a:pPr lvl="0"/>
            <a:r>
              <a:rPr lang="en-GB" sz="2200"/>
              <a:t>Each body chunk repeats the column context so retrieval does not lose schema if only a body chunk is matched.</a:t>
            </a:r>
            <a:endParaRPr lang="en-GB" sz="2200"/>
          </a:p>
          <a:p>
            <a:pPr lvl="0"/>
            <a:r>
              <a:rPr lang="en-GB" sz="2200"/>
              <a:t>This is a good compromise when header context is especially important for interpretation.</a:t>
            </a:r>
            <a:endParaRPr lang="en-GB" sz="22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/>
          <p:nvPr>
            <p:ph type="body" idx="1"/>
          </p:nvPr>
        </p:nvSpPr>
        <p:spPr>
          <a:xfrm>
            <a:off x="685800" y="914400"/>
            <a:ext cx="7772400" cy="4572000"/>
          </a:xfrm>
        </p:spPr>
        <p:txBody>
          <a:bodyPr wrap="square"/>
          <a:lstStyle/>
          <a:p>
            <a:pPr lvl="0"/>
            <a:r>
              <a:rPr lang="en-GB" sz="2200"/>
              <a:t>Row_blocks is the most structured strategy.</a:t>
            </a:r>
            <a:endParaRPr lang="en-GB" sz="2200"/>
          </a:p>
          <a:p>
            <a:pPr lvl="0"/>
            <a:r>
              <a:rPr lang="en-GB" sz="2200"/>
              <a:t>First it creates a summary chunk for high-level retrieval.</a:t>
            </a:r>
            <a:endParaRPr lang="en-GB" sz="2200"/>
          </a:p>
          <a:p>
            <a:pPr lvl="0"/>
            <a:r>
              <a:rPr lang="en-GB" sz="2200"/>
              <a:t>Then it converts the table into row records and groups them into row blocks.</a:t>
            </a:r>
            <a:endParaRPr lang="en-GB" sz="2200"/>
          </a:p>
          <a:p>
            <a:pPr lvl="0"/>
            <a:r>
              <a:rPr lang="en-GB" sz="2200"/>
              <a:t>Each block includes caption, page, type, column context, row markdown, and local fact lines.</a:t>
            </a:r>
            <a:endParaRPr lang="en-GB" sz="22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/>
          <p:nvPr>
            <p:ph type="body" idx="1"/>
          </p:nvPr>
        </p:nvSpPr>
        <p:spPr>
          <a:xfrm>
            <a:off x="685800" y="914400"/>
            <a:ext cx="7772400" cy="4572000"/>
          </a:xfrm>
        </p:spPr>
        <p:txBody>
          <a:bodyPr wrap="square"/>
          <a:lstStyle/>
          <a:p>
            <a:pPr lvl="0"/>
            <a:r>
              <a:rPr lang="en-GB" sz="2200"/>
              <a:t>These defaults shape how row_blocks behaves.</a:t>
            </a:r>
            <a:endParaRPr lang="en-GB" sz="2200"/>
          </a:p>
          <a:p>
            <a:pPr lvl="0"/>
            <a:r>
              <a:rPr lang="en-GB" sz="2200"/>
              <a:t>The row grouping logic first tries to fit rows into a target-sized block.</a:t>
            </a:r>
            <a:endParaRPr lang="en-GB" sz="2200"/>
          </a:p>
          <a:p>
            <a:pPr lvl="0"/>
            <a:r>
              <a:rPr lang="en-GB" sz="2200"/>
              <a:t>If a block becomes too large, it is split.</a:t>
            </a:r>
            <a:endParaRPr lang="en-GB" sz="2200"/>
          </a:p>
          <a:p>
            <a:pPr lvl="0"/>
            <a:r>
              <a:rPr lang="en-GB" sz="2200"/>
              <a:t>If a candidate block exceeds the hard limit, the pipeline may reduce it further, even to one row per block if necessary.</a:t>
            </a:r>
            <a:endParaRPr lang="en-GB" sz="22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/>
          <p:nvPr>
            <p:ph type="body" idx="1"/>
          </p:nvPr>
        </p:nvSpPr>
        <p:spPr>
          <a:xfrm>
            <a:off x="685800" y="914400"/>
            <a:ext cx="7772400" cy="4572000"/>
          </a:xfrm>
        </p:spPr>
        <p:txBody>
          <a:bodyPr wrap="square"/>
          <a:lstStyle/>
          <a:p>
            <a:pPr lvl="0"/>
            <a:r>
              <a:rPr lang="en-GB" sz="2200"/>
              <a:t>I inspected a real run from Grampian-2021-2022.</a:t>
            </a:r>
            <a:endParaRPr lang="en-GB" sz="2200"/>
          </a:p>
          <a:p>
            <a:pPr lvl="0"/>
            <a:r>
              <a:rPr lang="en-GB" sz="2200"/>
              <a:t>The table on page 71 is a staff-costs table with 14 rows and 4 columns.</a:t>
            </a:r>
            <a:endParaRPr lang="en-GB" sz="2200"/>
          </a:p>
          <a:p>
            <a:pPr lvl="0"/>
            <a:r>
              <a:rPr lang="en-GB" sz="2200"/>
              <a:t>In the stored run, the table was chunked with baseline, so it became one large chunk containing summary, facts, and markdown.</a:t>
            </a:r>
            <a:endParaRPr lang="en-GB" sz="2200"/>
          </a:p>
          <a:p>
            <a:pPr lvl="0"/>
            <a:r>
              <a:rPr lang="en-GB" sz="2200"/>
              <a:t>In that run, the chunk token count was about 1614, which is much larger than normal narrative text chunks.</a:t>
            </a:r>
            <a:endParaRPr lang="en-GB" sz="22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/>
          <p:nvPr>
            <p:ph type="body" idx="1"/>
          </p:nvPr>
        </p:nvSpPr>
        <p:spPr>
          <a:xfrm>
            <a:off x="685800" y="914400"/>
            <a:ext cx="7772400" cy="4572000"/>
          </a:xfrm>
        </p:spPr>
        <p:txBody>
          <a:bodyPr wrap="square"/>
          <a:lstStyle/>
          <a:p>
            <a:pPr lvl="0"/>
            <a:r>
              <a:rPr lang="en-GB" sz="2200"/>
              <a:t>I reconstructed the same extracted table under the other strategies.</a:t>
            </a:r>
            <a:endParaRPr lang="en-GB" sz="2200"/>
          </a:p>
          <a:p>
            <a:pPr lvl="0"/>
            <a:r>
              <a:rPr lang="en-GB" sz="2200"/>
              <a:t>Row_preserving created one compact row-based chunk for this table.</a:t>
            </a:r>
            <a:endParaRPr lang="en-GB" sz="2200"/>
          </a:p>
          <a:p>
            <a:pPr lvl="0"/>
            <a:r>
              <a:rPr lang="en-GB" sz="2200"/>
              <a:t>Two_stage created one header chunk and one body chunk.</a:t>
            </a:r>
            <a:endParaRPr lang="en-GB" sz="2200"/>
          </a:p>
          <a:p>
            <a:pPr lvl="0"/>
            <a:r>
              <a:rPr lang="en-GB" sz="2200"/>
              <a:t>Row_blocks created one summary chunk and two row-group chunks.</a:t>
            </a:r>
            <a:endParaRPr lang="en-GB" sz="2200"/>
          </a:p>
          <a:p>
            <a:pPr lvl="0"/>
            <a:r>
              <a:rPr lang="en-GB" sz="2200"/>
              <a:t>This shows that changing only the table chunking strategy changes retrieval granularity substantially, even when the underlying extraction is identical.</a:t>
            </a:r>
            <a:endParaRPr lang="en-GB" sz="22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/>
          <p:nvPr>
            <p:ph type="body" idx="1"/>
          </p:nvPr>
        </p:nvSpPr>
        <p:spPr>
          <a:xfrm>
            <a:off x="685800" y="914400"/>
            <a:ext cx="7772400" cy="4572000"/>
          </a:xfrm>
        </p:spPr>
        <p:txBody>
          <a:bodyPr wrap="square"/>
          <a:lstStyle/>
          <a:p>
            <a:pPr lvl="0"/>
            <a:r>
              <a:rPr lang="en-GB" sz="2200"/>
              <a:t>The pipeline is defensive around difficult scanned documents.</a:t>
            </a:r>
            <a:endParaRPr lang="en-GB" sz="2200"/>
          </a:p>
          <a:p>
            <a:pPr lvl="0"/>
            <a:r>
              <a:rPr lang="en-GB" sz="2200"/>
              <a:t>If a page looks like a table but no machine-readable structure is recovered, OCR-based table fallback is attempted.</a:t>
            </a:r>
            <a:endParaRPr lang="en-GB" sz="2200"/>
          </a:p>
          <a:p>
            <a:pPr lvl="0"/>
            <a:r>
              <a:rPr lang="en-GB" sz="2200"/>
              <a:t>If that fallback still does not accept the result, the page is routed back through normal text chunking instead.</a:t>
            </a:r>
            <a:endParaRPr lang="en-GB" sz="2200"/>
          </a:p>
          <a:p>
            <a:pPr lvl="0"/>
            <a:r>
              <a:rPr lang="en-GB" sz="2200"/>
              <a:t>There is also a config option to generate backup text chunks for table pages in addition to table chunks.</a:t>
            </a:r>
            <a:endParaRPr lang="en-GB" sz="22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/>
          <p:nvPr>
            <p:ph type="body" idx="1"/>
          </p:nvPr>
        </p:nvSpPr>
        <p:spPr>
          <a:xfrm>
            <a:off x="685800" y="914400"/>
            <a:ext cx="7772400" cy="4572000"/>
          </a:xfrm>
        </p:spPr>
        <p:txBody>
          <a:bodyPr wrap="square"/>
          <a:lstStyle/>
          <a:p>
            <a:pPr lvl="0"/>
            <a:r>
              <a:rPr lang="en-GB" sz="2200"/>
              <a:t>In whole-document markdown mode, table extraction can happen before normal text chunking.</a:t>
            </a:r>
            <a:endParaRPr lang="en-GB" sz="2200"/>
          </a:p>
          <a:p>
            <a:pPr lvl="0"/>
            <a:r>
              <a:rPr lang="en-GB" sz="2200"/>
              <a:t>The table summary, header-injected facts, and markdown can then be injected into page-level markdown text.</a:t>
            </a:r>
            <a:endParaRPr lang="en-GB" sz="2200"/>
          </a:p>
          <a:p>
            <a:pPr lvl="0"/>
            <a:r>
              <a:rPr lang="en-GB" sz="2200"/>
              <a:t>That means tables can appear both as dedicated table chunks and as injected context inside text-like chunks.</a:t>
            </a:r>
            <a:endParaRPr lang="en-GB" sz="2200"/>
          </a:p>
          <a:p>
            <a:pPr lvl="0"/>
            <a:r>
              <a:rPr lang="en-GB" sz="2200"/>
              <a:t>This is optional and mainly useful for alternative retrieval experiments.</a:t>
            </a:r>
            <a:endParaRPr lang="en-GB" sz="22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/>
          <p:nvPr>
            <p:ph type="body" idx="1"/>
          </p:nvPr>
        </p:nvSpPr>
        <p:spPr>
          <a:xfrm>
            <a:off x="685800" y="914400"/>
            <a:ext cx="7772400" cy="4572000"/>
          </a:xfrm>
        </p:spPr>
        <p:txBody>
          <a:bodyPr wrap="square"/>
          <a:lstStyle/>
          <a:p>
            <a:pPr lvl="0"/>
            <a:r>
              <a:rPr lang="en-GB" sz="2200"/>
              <a:t>The main message is that table handling is a separate architectural path, not a minor variation of text chunking.</a:t>
            </a:r>
            <a:endParaRPr lang="en-GB" sz="2200"/>
          </a:p>
          <a:p>
            <a:pPr lvl="0"/>
            <a:r>
              <a:rPr lang="en-GB" sz="2200"/>
              <a:t>The pipeline first decides whether a page is a table, then extracts structured content, then builds retrieval chunks using a selected strategy.</a:t>
            </a:r>
            <a:endParaRPr lang="en-GB" sz="2200"/>
          </a:p>
          <a:p>
            <a:pPr lvl="0"/>
            <a:r>
              <a:rPr lang="en-GB" sz="2200"/>
              <a:t>This allows the system to preserve numeric fidelity while still supporting semantic retrieval.</a:t>
            </a:r>
            <a:endParaRPr lang="en-GB" sz="2200"/>
          </a:p>
          <a:p>
            <a:pPr lvl="0"/>
            <a:r>
              <a:rPr lang="en-GB" sz="2200"/>
              <a:t>The main tradeoff across strategies is completeness versus granularity.</a:t>
            </a:r>
            <a:endParaRPr lang="en-GB" sz="2200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 Slide Mast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>
      <a:lvl1pPr algn="l">
        <a:defRPr sz="2800" b="1"/>
      </a:lvl1pPr>
    </p:titleStyle>
    <p:bodyStyle>
      <a:lvl1pPr marL="342900" indent="-342900">
        <a:defRPr sz="2200"/>
      </a:lvl1pPr>
    </p:bodyStyle>
    <p:otherStyle>
      <a:defPPr>
        <a:defRPr sz="1800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GB" sz="2800" b="1"/>
              <a:t>Table Extraction And Chunking In The RAG Pipeline</a:t>
            </a:r>
            <a:endParaRPr lang="en-GB" sz="2800"/>
          </a:p>
        </p:txBody>
      </p:sp>
      <p:sp>
        <p:nvSpPr>
          <p:cNvPr id="3" name="Content Placeholder 2"/>
          <p:cNvSpPr/>
          <p:nvPr/>
        </p:nvSpPr>
        <p:spPr>
          <a:xfrm>
            <a:off x="685800" y="1371600"/>
            <a:ext cx="7772400" cy="4343400"/>
          </a:xfrm>
        </p:spPr>
        <p:txBody>
          <a:bodyPr wrap="square"/>
          <a:lstStyle/>
          <a:p>
            <a:pPr lvl="0"/>
            <a:r>
              <a:rPr lang="en-GB" sz="2200"/>
              <a:t>How the pipeline detects, extracts, represents, and chunks tables for retrieval</a:t>
            </a:r>
            <a:endParaRPr lang="en-GB" sz="2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GB" sz="2800" b="1"/>
              <a:t>Why Tables Need Special Handling</a:t>
            </a:r>
            <a:endParaRPr lang="en-GB" sz="2800"/>
          </a:p>
        </p:txBody>
      </p:sp>
      <p:sp>
        <p:nvSpPr>
          <p:cNvPr id="3" name="Content Placeholder 2"/>
          <p:cNvSpPr/>
          <p:nvPr/>
        </p:nvSpPr>
        <p:spPr>
          <a:xfrm>
            <a:off x="685800" y="1371600"/>
            <a:ext cx="7772400" cy="4343400"/>
          </a:xfrm>
        </p:spPr>
        <p:txBody>
          <a:bodyPr wrap="square"/>
          <a:lstStyle/>
          <a:p>
            <a:pPr lvl="0"/>
            <a:r>
              <a:rPr lang="en-GB" sz="2200"/>
              <a:t>Tables contain structure, not just text</a:t>
            </a:r>
            <a:endParaRPr lang="en-GB" sz="2200"/>
          </a:p>
          <a:p>
            <a:pPr lvl="0"/>
            <a:r>
              <a:rPr lang="en-GB" sz="2200"/>
              <a:t>Numeric meaning depends on row-column alignment</a:t>
            </a:r>
            <a:endParaRPr lang="en-GB" sz="2200"/>
          </a:p>
          <a:p>
            <a:pPr lvl="0"/>
            <a:r>
              <a:rPr lang="en-GB" sz="2200"/>
              <a:t>Flat sliding-window chunking loses that structure</a:t>
            </a:r>
            <a:endParaRPr lang="en-GB"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GB" sz="2800" b="1"/>
              <a:t>High-Level Flow</a:t>
            </a:r>
            <a:endParaRPr lang="en-GB" sz="2800"/>
          </a:p>
        </p:txBody>
      </p:sp>
      <p:sp>
        <p:nvSpPr>
          <p:cNvPr id="3" name="Content Placeholder 2"/>
          <p:cNvSpPr/>
          <p:nvPr/>
        </p:nvSpPr>
        <p:spPr>
          <a:xfrm>
            <a:off x="685800" y="1371600"/>
            <a:ext cx="7772400" cy="4343400"/>
          </a:xfrm>
        </p:spPr>
        <p:txBody>
          <a:bodyPr wrap="square"/>
          <a:lstStyle/>
          <a:p>
            <a:pPr lvl="0"/>
            <a:r>
              <a:rPr lang="en-GB" sz="2200"/>
              <a:t>Extract page text and layout</a:t>
            </a:r>
            <a:endParaRPr lang="en-GB" sz="2200"/>
          </a:p>
          <a:p>
            <a:pPr lvl="0"/>
            <a:r>
              <a:rPr lang="en-GB" sz="2200"/>
              <a:t>Classify each page as text or table</a:t>
            </a:r>
            <a:endParaRPr lang="en-GB" sz="2200"/>
          </a:p>
          <a:p>
            <a:pPr lvl="0"/>
            <a:r>
              <a:rPr lang="en-GB" sz="2200"/>
              <a:t>Text pages: token-based text chunking</a:t>
            </a:r>
            <a:endParaRPr lang="en-GB" sz="2200"/>
          </a:p>
          <a:p>
            <a:pPr lvl="0"/>
            <a:r>
              <a:rPr lang="en-GB" sz="2200"/>
              <a:t>Table pages: table extraction and table-specific chunking</a:t>
            </a:r>
            <a:endParaRPr lang="en-GB" sz="2200"/>
          </a:p>
          <a:p>
            <a:pPr lvl="0"/>
            <a:r>
              <a:rPr lang="en-GB" sz="2200"/>
              <a:t>Merge all chunks into one retrieval corpus</a:t>
            </a:r>
            <a:endParaRPr lang="en-GB"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GB" sz="2800" b="1"/>
              <a:t>Page Classification</a:t>
            </a:r>
            <a:endParaRPr lang="en-GB" sz="2800"/>
          </a:p>
        </p:txBody>
      </p:sp>
      <p:sp>
        <p:nvSpPr>
          <p:cNvPr id="3" name="Content Placeholder 2"/>
          <p:cNvSpPr/>
          <p:nvPr/>
        </p:nvSpPr>
        <p:spPr>
          <a:xfrm>
            <a:off x="685800" y="1371600"/>
            <a:ext cx="7772400" cy="4343400"/>
          </a:xfrm>
        </p:spPr>
        <p:txBody>
          <a:bodyPr wrap="square"/>
          <a:lstStyle/>
          <a:p>
            <a:pPr lvl="0"/>
            <a:r>
              <a:rPr lang="en-GB" sz="2200"/>
              <a:t>Cleaned page text is classified first</a:t>
            </a:r>
            <a:endParaRPr lang="en-GB" sz="2200"/>
          </a:p>
          <a:p>
            <a:pPr lvl="0"/>
            <a:r>
              <a:rPr lang="en-GB" sz="2200"/>
              <a:t>Raw-layout heuristics can override the result</a:t>
            </a:r>
            <a:endParaRPr lang="en-GB" sz="2200"/>
          </a:p>
          <a:p>
            <a:pPr lvl="0"/>
            <a:r>
              <a:rPr lang="en-GB" sz="2200"/>
              <a:t>OCR-based signals can also force a table label</a:t>
            </a:r>
            <a:endParaRPr lang="en-GB" sz="2200"/>
          </a:p>
          <a:p>
            <a:pPr lvl="0"/>
            <a:r>
              <a:rPr lang="en-GB" sz="2200"/>
              <a:t>Output fields: is_table, table_type, confidence</a:t>
            </a:r>
            <a:endParaRPr lang="en-GB"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GB" sz="2800" b="1"/>
              <a:t>What Happens To Normal Text Pages</a:t>
            </a:r>
            <a:endParaRPr lang="en-GB" sz="2800"/>
          </a:p>
        </p:txBody>
      </p:sp>
      <p:sp>
        <p:nvSpPr>
          <p:cNvPr id="3" name="Content Placeholder 2"/>
          <p:cNvSpPr/>
          <p:nvPr/>
        </p:nvSpPr>
        <p:spPr>
          <a:xfrm>
            <a:off x="685800" y="1371600"/>
            <a:ext cx="7772400" cy="4343400"/>
          </a:xfrm>
        </p:spPr>
        <p:txBody>
          <a:bodyPr wrap="square"/>
          <a:lstStyle/>
          <a:p>
            <a:pPr lvl="0"/>
            <a:r>
              <a:rPr lang="en-GB" sz="2200"/>
              <a:t>Segment-aware splitting</a:t>
            </a:r>
            <a:endParaRPr lang="en-GB" sz="2200"/>
          </a:p>
          <a:p>
            <a:pPr lvl="0"/>
            <a:r>
              <a:rPr lang="en-GB" sz="2200"/>
              <a:t>Token chunking with overlap</a:t>
            </a:r>
            <a:endParaRPr lang="en-GB" sz="2200"/>
          </a:p>
          <a:p>
            <a:pPr lvl="0"/>
            <a:r>
              <a:rPr lang="en-GB" sz="2200"/>
              <a:t>Defaults: 224 token chunk size, 56 token overlap</a:t>
            </a:r>
            <a:endParaRPr lang="en-GB"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GB" sz="2800" b="1"/>
              <a:t>What Happens To Table Pages</a:t>
            </a:r>
            <a:endParaRPr lang="en-GB" sz="2800"/>
          </a:p>
        </p:txBody>
      </p:sp>
      <p:sp>
        <p:nvSpPr>
          <p:cNvPr id="3" name="Content Placeholder 2"/>
          <p:cNvSpPr/>
          <p:nvPr/>
        </p:nvSpPr>
        <p:spPr>
          <a:xfrm>
            <a:off x="685800" y="1371600"/>
            <a:ext cx="7772400" cy="4343400"/>
          </a:xfrm>
        </p:spPr>
        <p:txBody>
          <a:bodyPr wrap="square"/>
          <a:lstStyle/>
          <a:p>
            <a:pPr lvl="0"/>
            <a:r>
              <a:rPr lang="en-GB" sz="2200"/>
              <a:t>process_table_pages(...) handles table pages</a:t>
            </a:r>
            <a:endParaRPr lang="en-GB" sz="2200"/>
          </a:p>
          <a:p>
            <a:pPr lvl="0"/>
            <a:r>
              <a:rPr lang="en-GB" sz="2200"/>
              <a:t>Extract table structure first</a:t>
            </a:r>
            <a:endParaRPr lang="en-GB" sz="2200"/>
          </a:p>
          <a:p>
            <a:pPr lvl="0"/>
            <a:r>
              <a:rPr lang="en-GB" sz="2200"/>
              <a:t>Build three outputs: structured tables, canonical facts, retrieval chunks</a:t>
            </a:r>
            <a:endParaRPr lang="en-GB" sz="2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GB" sz="2800" b="1"/>
              <a:t>Extraction Cascade</a:t>
            </a:r>
            <a:endParaRPr lang="en-GB" sz="2800"/>
          </a:p>
        </p:txBody>
      </p:sp>
      <p:sp>
        <p:nvSpPr>
          <p:cNvPr id="3" name="Content Placeholder 2"/>
          <p:cNvSpPr/>
          <p:nvPr/>
        </p:nvSpPr>
        <p:spPr>
          <a:xfrm>
            <a:off x="685800" y="1371600"/>
            <a:ext cx="7772400" cy="4343400"/>
          </a:xfrm>
        </p:spPr>
        <p:txBody>
          <a:bodyPr wrap="square"/>
          <a:lstStyle/>
          <a:p>
            <a:pPr lvl="0"/>
            <a:r>
              <a:rPr lang="en-GB" sz="2200"/>
              <a:t>Primary extractor: Camelot</a:t>
            </a:r>
            <a:endParaRPr lang="en-GB" sz="2200"/>
          </a:p>
          <a:p>
            <a:pPr lvl="0"/>
            <a:r>
              <a:rPr lang="en-GB" sz="2200"/>
              <a:t>OCR fallback for scanned table pages</a:t>
            </a:r>
            <a:endParaRPr lang="en-GB" sz="2200"/>
          </a:p>
          <a:p>
            <a:pPr lvl="0"/>
            <a:r>
              <a:rPr lang="en-GB" sz="2200"/>
              <a:t>Final fallback: pdfplumber</a:t>
            </a:r>
            <a:endParaRPr lang="en-GB" sz="2200"/>
          </a:p>
          <a:p>
            <a:pPr lvl="0"/>
            <a:r>
              <a:rPr lang="en-GB" sz="2200"/>
              <a:t>Optional merge for split staff-costs tables</a:t>
            </a:r>
            <a:endParaRPr lang="en-GB" sz="2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GB" sz="2800" b="1"/>
              <a:t>Outputs Per Table</a:t>
            </a:r>
            <a:endParaRPr lang="en-GB" sz="2800"/>
          </a:p>
        </p:txBody>
      </p:sp>
      <p:sp>
        <p:nvSpPr>
          <p:cNvPr id="3" name="Content Placeholder 2"/>
          <p:cNvSpPr/>
          <p:nvPr/>
        </p:nvSpPr>
        <p:spPr>
          <a:xfrm>
            <a:off x="685800" y="1371600"/>
            <a:ext cx="7772400" cy="4343400"/>
          </a:xfrm>
        </p:spPr>
        <p:txBody>
          <a:bodyPr wrap="square"/>
          <a:lstStyle/>
          <a:p>
            <a:pPr lvl="0"/>
            <a:r>
              <a:rPr lang="en-GB" sz="2200"/>
              <a:t>tables_structured.parquet</a:t>
            </a:r>
            <a:endParaRPr lang="en-GB" sz="2200"/>
          </a:p>
          <a:p>
            <a:pPr lvl="0"/>
            <a:r>
              <a:rPr lang="en-GB" sz="2200"/>
              <a:t>table_facts.parquet</a:t>
            </a:r>
            <a:endParaRPr lang="en-GB" sz="2200"/>
          </a:p>
          <a:p>
            <a:pPr lvl="0"/>
            <a:r>
              <a:rPr lang="en-GB" sz="2200"/>
              <a:t>table chunks in chunks.parquet</a:t>
            </a:r>
            <a:endParaRPr lang="en-GB" sz="2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GB" sz="2800" b="1"/>
              <a:t>Metadata On Table Chunks</a:t>
            </a:r>
            <a:endParaRPr lang="en-GB" sz="2800"/>
          </a:p>
        </p:txBody>
      </p:sp>
      <p:sp>
        <p:nvSpPr>
          <p:cNvPr id="3" name="Content Placeholder 2"/>
          <p:cNvSpPr/>
          <p:nvPr/>
        </p:nvSpPr>
        <p:spPr>
          <a:xfrm>
            <a:off x="685800" y="1371600"/>
            <a:ext cx="7772400" cy="4343400"/>
          </a:xfrm>
        </p:spPr>
        <p:txBody>
          <a:bodyPr wrap="square"/>
          <a:lstStyle/>
          <a:p>
            <a:pPr lvl="0"/>
            <a:r>
              <a:rPr lang="en-GB" sz="2200"/>
              <a:t>is_table = True</a:t>
            </a:r>
            <a:endParaRPr lang="en-GB" sz="2200"/>
          </a:p>
          <a:p>
            <a:pPr lvl="0"/>
            <a:r>
              <a:rPr lang="en-GB" sz="2200"/>
              <a:t>table_type</a:t>
            </a:r>
            <a:endParaRPr lang="en-GB" sz="2200"/>
          </a:p>
          <a:p>
            <a:pPr lvl="0"/>
            <a:r>
              <a:rPr lang="en-GB" sz="2200"/>
              <a:t>table_ref</a:t>
            </a:r>
            <a:endParaRPr lang="en-GB" sz="2200"/>
          </a:p>
          <a:p>
            <a:pPr lvl="0"/>
            <a:r>
              <a:rPr lang="en-GB" sz="2200"/>
              <a:t>page-bounded chunk IDs</a:t>
            </a:r>
            <a:endParaRPr lang="en-GB" sz="2200"/>
          </a:p>
          <a:p>
            <a:pPr lvl="0"/>
            <a:r>
              <a:rPr lang="en-GB" sz="2200"/>
              <a:t>Optional diagnostics in newer runs</a:t>
            </a:r>
            <a:endParaRPr lang="en-GB" sz="2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GB" sz="2800" b="1"/>
              <a:t>Table Chunking Strategies</a:t>
            </a:r>
            <a:endParaRPr lang="en-GB" sz="2800"/>
          </a:p>
        </p:txBody>
      </p:sp>
      <p:sp>
        <p:nvSpPr>
          <p:cNvPr id="3" name="Content Placeholder 2"/>
          <p:cNvSpPr/>
          <p:nvPr/>
        </p:nvSpPr>
        <p:spPr>
          <a:xfrm>
            <a:off x="685800" y="1371600"/>
            <a:ext cx="7772400" cy="4343400"/>
          </a:xfrm>
        </p:spPr>
        <p:txBody>
          <a:bodyPr wrap="square"/>
          <a:lstStyle/>
          <a:p>
            <a:pPr lvl="0"/>
            <a:r>
              <a:rPr lang="en-GB" sz="2200"/>
              <a:t>Four supported strategies: baseline, row_preserving, two_stage, row_blocks</a:t>
            </a:r>
            <a:endParaRPr lang="en-GB" sz="2200"/>
          </a:p>
          <a:p>
            <a:pPr lvl="0"/>
            <a:r>
              <a:rPr lang="en-GB" sz="2200"/>
              <a:t>Controlled by --table-chunking</a:t>
            </a:r>
            <a:endParaRPr lang="en-GB" sz="2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GB" sz="2800" b="1"/>
              <a:t>Strategy 1: Baseline</a:t>
            </a:r>
            <a:endParaRPr lang="en-GB" sz="2800"/>
          </a:p>
        </p:txBody>
      </p:sp>
      <p:sp>
        <p:nvSpPr>
          <p:cNvPr id="3" name="Content Placeholder 2"/>
          <p:cNvSpPr/>
          <p:nvPr/>
        </p:nvSpPr>
        <p:spPr>
          <a:xfrm>
            <a:off x="685800" y="1371600"/>
            <a:ext cx="7772400" cy="4343400"/>
          </a:xfrm>
        </p:spPr>
        <p:txBody>
          <a:bodyPr wrap="square"/>
          <a:lstStyle/>
          <a:p>
            <a:pPr lvl="0"/>
            <a:r>
              <a:rPr lang="en-GB" sz="2200"/>
              <a:t>One chunk per table</a:t>
            </a:r>
            <a:endParaRPr lang="en-GB" sz="2200"/>
          </a:p>
          <a:p>
            <a:pPr lvl="0"/>
            <a:r>
              <a:rPr lang="en-GB" sz="2200"/>
              <a:t>Includes: summary, header-injected facts, markdown table</a:t>
            </a:r>
            <a:endParaRPr lang="en-GB" sz="2200"/>
          </a:p>
          <a:p>
            <a:pPr lvl="0"/>
            <a:r>
              <a:rPr lang="en-GB" sz="2200"/>
              <a:t>Highest completeness, lowest granularity</a:t>
            </a:r>
            <a:endParaRPr lang="en-GB" sz="2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GB" sz="2800" b="1"/>
              <a:t>Strategy 2: Row Preserving</a:t>
            </a:r>
            <a:endParaRPr lang="en-GB" sz="2800"/>
          </a:p>
        </p:txBody>
      </p:sp>
      <p:sp>
        <p:nvSpPr>
          <p:cNvPr id="3" name="Content Placeholder 2"/>
          <p:cNvSpPr/>
          <p:nvPr/>
        </p:nvSpPr>
        <p:spPr>
          <a:xfrm>
            <a:off x="685800" y="1371600"/>
            <a:ext cx="7772400" cy="4343400"/>
          </a:xfrm>
        </p:spPr>
        <p:txBody>
          <a:bodyPr wrap="square"/>
          <a:lstStyle/>
          <a:p>
            <a:pPr lvl="0"/>
            <a:r>
              <a:rPr lang="en-GB" sz="2200"/>
              <a:t>Convert each row into a line</a:t>
            </a:r>
            <a:endParaRPr lang="en-GB" sz="2200"/>
          </a:p>
          <a:p>
            <a:pPr lvl="0"/>
            <a:r>
              <a:rPr lang="en-GB" sz="2200"/>
              <a:t>Repeat table prefix and column context</a:t>
            </a:r>
            <a:endParaRPr lang="en-GB" sz="2200"/>
          </a:p>
          <a:p>
            <a:pPr lvl="0"/>
            <a:r>
              <a:rPr lang="en-GB" sz="2200"/>
              <a:t>Pack rows by token budget</a:t>
            </a:r>
            <a:endParaRPr lang="en-GB" sz="2200"/>
          </a:p>
          <a:p>
            <a:pPr lvl="0"/>
            <a:r>
              <a:rPr lang="en-GB" sz="2200"/>
              <a:t>Never split a row across chunks</a:t>
            </a:r>
            <a:endParaRPr lang="en-GB" sz="2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GB" sz="2800" b="1"/>
              <a:t>Strategy 3: Two Stage</a:t>
            </a:r>
            <a:endParaRPr lang="en-GB" sz="2800"/>
          </a:p>
        </p:txBody>
      </p:sp>
      <p:sp>
        <p:nvSpPr>
          <p:cNvPr id="3" name="Content Placeholder 2"/>
          <p:cNvSpPr/>
          <p:nvPr/>
        </p:nvSpPr>
        <p:spPr>
          <a:xfrm>
            <a:off x="685800" y="1371600"/>
            <a:ext cx="7772400" cy="4343400"/>
          </a:xfrm>
        </p:spPr>
        <p:txBody>
          <a:bodyPr wrap="square"/>
          <a:lstStyle/>
          <a:p>
            <a:pPr lvl="0"/>
            <a:r>
              <a:rPr lang="en-GB" sz="2200"/>
              <a:t>Chunk 1: table schema and header</a:t>
            </a:r>
            <a:endParaRPr lang="en-GB" sz="2200"/>
          </a:p>
          <a:p>
            <a:pPr lvl="0"/>
            <a:r>
              <a:rPr lang="en-GB" sz="2200"/>
              <a:t>Chunk 2+: body rows</a:t>
            </a:r>
            <a:endParaRPr lang="en-GB" sz="2200"/>
          </a:p>
          <a:p>
            <a:pPr lvl="0"/>
            <a:r>
              <a:rPr lang="en-GB" sz="2200"/>
              <a:t>Body chunks repeat column context</a:t>
            </a:r>
            <a:endParaRPr lang="en-GB" sz="2200"/>
          </a:p>
          <a:p>
            <a:pPr lvl="0"/>
            <a:r>
              <a:rPr lang="en-GB" sz="2200"/>
              <a:t>Separates schema from content</a:t>
            </a:r>
            <a:endParaRPr lang="en-GB" sz="2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GB" sz="2800" b="1"/>
              <a:t>Strategy 4: Row Blocks</a:t>
            </a:r>
            <a:endParaRPr lang="en-GB" sz="2800"/>
          </a:p>
        </p:txBody>
      </p:sp>
      <p:sp>
        <p:nvSpPr>
          <p:cNvPr id="3" name="Content Placeholder 2"/>
          <p:cNvSpPr/>
          <p:nvPr/>
        </p:nvSpPr>
        <p:spPr>
          <a:xfrm>
            <a:off x="685800" y="1371600"/>
            <a:ext cx="7772400" cy="4343400"/>
          </a:xfrm>
        </p:spPr>
        <p:txBody>
          <a:bodyPr wrap="square"/>
          <a:lstStyle/>
          <a:p>
            <a:pPr lvl="0"/>
            <a:r>
              <a:rPr lang="en-GB" sz="2200"/>
              <a:t>Summary chunk first</a:t>
            </a:r>
            <a:endParaRPr lang="en-GB" sz="2200"/>
          </a:p>
          <a:p>
            <a:pPr lvl="0"/>
            <a:r>
              <a:rPr lang="en-GB" sz="2200"/>
              <a:t>Then row-group chunks</a:t>
            </a:r>
            <a:endParaRPr lang="en-GB" sz="2200"/>
          </a:p>
          <a:p>
            <a:pPr lvl="0"/>
            <a:r>
              <a:rPr lang="en-GB" sz="2200"/>
              <a:t>Each block contains: columns, rows, local fact lines</a:t>
            </a:r>
            <a:endParaRPr lang="en-GB" sz="2200"/>
          </a:p>
          <a:p>
            <a:pPr lvl="0"/>
            <a:r>
              <a:rPr lang="en-GB" sz="2200"/>
              <a:t>Most retrieval-oriented strategy</a:t>
            </a:r>
            <a:endParaRPr lang="en-GB" sz="2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GB" sz="2800" b="1"/>
              <a:t>Default Row-Block Budgets</a:t>
            </a:r>
            <a:endParaRPr lang="en-GB" sz="2800"/>
          </a:p>
        </p:txBody>
      </p:sp>
      <p:sp>
        <p:nvSpPr>
          <p:cNvPr id="3" name="Content Placeholder 2"/>
          <p:cNvSpPr/>
          <p:nvPr/>
        </p:nvSpPr>
        <p:spPr>
          <a:xfrm>
            <a:off x="685800" y="1371600"/>
            <a:ext cx="7772400" cy="4343400"/>
          </a:xfrm>
        </p:spPr>
        <p:txBody>
          <a:bodyPr wrap="square"/>
          <a:lstStyle/>
          <a:p>
            <a:pPr lvl="0"/>
            <a:r>
              <a:rPr lang="en-GB" sz="2200"/>
              <a:t>Summary target: 140 words</a:t>
            </a:r>
            <a:endParaRPr lang="en-GB" sz="2200"/>
          </a:p>
          <a:p>
            <a:pPr lvl="0"/>
            <a:r>
              <a:rPr lang="en-GB" sz="2200"/>
              <a:t>Row-block target: 320 words</a:t>
            </a:r>
            <a:endParaRPr lang="en-GB" sz="2200"/>
          </a:p>
          <a:p>
            <a:pPr lvl="0"/>
            <a:r>
              <a:rPr lang="en-GB" sz="2200"/>
              <a:t>Hard max: 450 words</a:t>
            </a:r>
            <a:endParaRPr lang="en-GB" sz="2200"/>
          </a:p>
          <a:p>
            <a:pPr lvl="0"/>
            <a:r>
              <a:rPr lang="en-GB" sz="2200"/>
              <a:t>Max rows per block: 10</a:t>
            </a:r>
            <a:endParaRPr lang="en-GB" sz="2200"/>
          </a:p>
          <a:p>
            <a:pPr lvl="0"/>
            <a:r>
              <a:rPr lang="en-GB" sz="2200"/>
              <a:t>Local facts cap: 24</a:t>
            </a:r>
            <a:endParaRPr lang="en-GB" sz="2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GB" sz="2800" b="1"/>
              <a:t>Real Example: Stored Baseline Output</a:t>
            </a:r>
            <a:endParaRPr lang="en-GB" sz="2800"/>
          </a:p>
        </p:txBody>
      </p:sp>
      <p:sp>
        <p:nvSpPr>
          <p:cNvPr id="3" name="Content Placeholder 2"/>
          <p:cNvSpPr/>
          <p:nvPr/>
        </p:nvSpPr>
        <p:spPr>
          <a:xfrm>
            <a:off x="685800" y="1371600"/>
            <a:ext cx="7772400" cy="4343400"/>
          </a:xfrm>
        </p:spPr>
        <p:txBody>
          <a:bodyPr wrap="square"/>
          <a:lstStyle/>
          <a:p>
            <a:pPr lvl="0"/>
            <a:r>
              <a:rPr lang="en-GB" sz="2200"/>
              <a:t>Example: page 71 staff-costs table</a:t>
            </a:r>
            <a:endParaRPr lang="en-GB" sz="2200"/>
          </a:p>
          <a:p>
            <a:pPr lvl="0"/>
            <a:r>
              <a:rPr lang="en-GB" sz="2200"/>
              <a:t>table_ref = table_p0071</a:t>
            </a:r>
            <a:endParaRPr lang="en-GB" sz="2200"/>
          </a:p>
          <a:p>
            <a:pPr lvl="0"/>
            <a:r>
              <a:rPr lang="en-GB" sz="2200"/>
              <a:t>rows = 14, cols = 4</a:t>
            </a:r>
            <a:endParaRPr lang="en-GB" sz="2200"/>
          </a:p>
          <a:p>
            <a:pPr lvl="0"/>
            <a:r>
              <a:rPr lang="en-GB" sz="2200"/>
              <a:t>Stored as one large baseline chunk</a:t>
            </a:r>
            <a:endParaRPr lang="en-GB" sz="2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GB" sz="2800" b="1"/>
              <a:t>Same Table Under Other Strategies</a:t>
            </a:r>
            <a:endParaRPr lang="en-GB" sz="2800"/>
          </a:p>
        </p:txBody>
      </p:sp>
      <p:sp>
        <p:nvSpPr>
          <p:cNvPr id="3" name="Content Placeholder 2"/>
          <p:cNvSpPr/>
          <p:nvPr/>
        </p:nvSpPr>
        <p:spPr>
          <a:xfrm>
            <a:off x="685800" y="1371600"/>
            <a:ext cx="7772400" cy="4343400"/>
          </a:xfrm>
        </p:spPr>
        <p:txBody>
          <a:bodyPr wrap="square"/>
          <a:lstStyle/>
          <a:p>
            <a:pPr lvl="0"/>
            <a:r>
              <a:rPr lang="en-GB" sz="2200"/>
              <a:t>baseline: 1 large chunk</a:t>
            </a:r>
            <a:endParaRPr lang="en-GB" sz="2200"/>
          </a:p>
          <a:p>
            <a:pPr lvl="0"/>
            <a:r>
              <a:rPr lang="en-GB" sz="2200"/>
              <a:t>row_preserving: 1 compact row-oriented chunk</a:t>
            </a:r>
            <a:endParaRPr lang="en-GB" sz="2200"/>
          </a:p>
          <a:p>
            <a:pPr lvl="0"/>
            <a:r>
              <a:rPr lang="en-GB" sz="2200"/>
              <a:t>two_stage: 2 chunks</a:t>
            </a:r>
            <a:endParaRPr lang="en-GB" sz="2200"/>
          </a:p>
          <a:p>
            <a:pPr lvl="0"/>
            <a:r>
              <a:rPr lang="en-GB" sz="2200"/>
              <a:t>row_blocks: 3 chunks</a:t>
            </a:r>
            <a:endParaRPr lang="en-GB" sz="2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GB" sz="2800" b="1"/>
              <a:t>OCR And Recovery Logic</a:t>
            </a:r>
            <a:endParaRPr lang="en-GB" sz="2800"/>
          </a:p>
        </p:txBody>
      </p:sp>
      <p:sp>
        <p:nvSpPr>
          <p:cNvPr id="3" name="Content Placeholder 2"/>
          <p:cNvSpPr/>
          <p:nvPr/>
        </p:nvSpPr>
        <p:spPr>
          <a:xfrm>
            <a:off x="685800" y="1371600"/>
            <a:ext cx="7772400" cy="4343400"/>
          </a:xfrm>
        </p:spPr>
        <p:txBody>
          <a:bodyPr wrap="square"/>
          <a:lstStyle/>
          <a:p>
            <a:pPr lvl="0"/>
            <a:r>
              <a:rPr lang="en-GB" sz="2200"/>
              <a:t>OCR pages may still be classified as tables</a:t>
            </a:r>
            <a:endParaRPr lang="en-GB" sz="2200"/>
          </a:p>
          <a:p>
            <a:pPr lvl="0"/>
            <a:r>
              <a:rPr lang="en-GB" sz="2200"/>
              <a:t>OCR-table fallback is tried if Camelot fails</a:t>
            </a:r>
            <a:endParaRPr lang="en-GB" sz="2200"/>
          </a:p>
          <a:p>
            <a:pPr lvl="0"/>
            <a:r>
              <a:rPr lang="en-GB" sz="2200"/>
              <a:t>Rejected OCR tables return to text chunking</a:t>
            </a:r>
            <a:endParaRPr lang="en-GB" sz="2200"/>
          </a:p>
          <a:p>
            <a:pPr lvl="0"/>
            <a:r>
              <a:rPr lang="en-GB" sz="2200"/>
              <a:t>Optional backup text chunks for table pages</a:t>
            </a:r>
            <a:endParaRPr lang="en-GB" sz="22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GB" sz="2800" b="1"/>
              <a:t>Whole-Document Markdown Mode</a:t>
            </a:r>
            <a:endParaRPr lang="en-GB" sz="2800"/>
          </a:p>
        </p:txBody>
      </p:sp>
      <p:sp>
        <p:nvSpPr>
          <p:cNvPr id="3" name="Content Placeholder 2"/>
          <p:cNvSpPr/>
          <p:nvPr/>
        </p:nvSpPr>
        <p:spPr>
          <a:xfrm>
            <a:off x="685800" y="1371600"/>
            <a:ext cx="7772400" cy="4343400"/>
          </a:xfrm>
        </p:spPr>
        <p:txBody>
          <a:bodyPr wrap="square"/>
          <a:lstStyle/>
          <a:p>
            <a:pPr lvl="0"/>
            <a:r>
              <a:rPr lang="en-GB" sz="2200"/>
              <a:t>Tables can be extracted early</a:t>
            </a:r>
            <a:endParaRPr lang="en-GB" sz="2200"/>
          </a:p>
          <a:p>
            <a:pPr lvl="0"/>
            <a:r>
              <a:rPr lang="en-GB" sz="2200"/>
              <a:t>Table summaries and markdown can be injected into page markdown</a:t>
            </a:r>
            <a:endParaRPr lang="en-GB" sz="2200"/>
          </a:p>
          <a:p>
            <a:pPr lvl="0"/>
            <a:r>
              <a:rPr lang="en-GB" sz="2200"/>
              <a:t>Tables then influence text chunks as well</a:t>
            </a:r>
            <a:endParaRPr lang="en-GB" sz="22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GB" sz="2800" b="1"/>
              <a:t>Takeaway</a:t>
            </a:r>
            <a:endParaRPr lang="en-GB" sz="2800"/>
          </a:p>
        </p:txBody>
      </p:sp>
      <p:sp>
        <p:nvSpPr>
          <p:cNvPr id="3" name="Content Placeholder 2"/>
          <p:cNvSpPr/>
          <p:nvPr/>
        </p:nvSpPr>
        <p:spPr>
          <a:xfrm>
            <a:off x="685800" y="1371600"/>
            <a:ext cx="7772400" cy="4343400"/>
          </a:xfrm>
        </p:spPr>
        <p:txBody>
          <a:bodyPr wrap="square"/>
          <a:lstStyle/>
          <a:p>
            <a:pPr lvl="0"/>
            <a:r>
              <a:rPr lang="en-GB" sz="2200"/>
              <a:t>Tables are detected first, not chunked blindly</a:t>
            </a:r>
            <a:endParaRPr lang="en-GB" sz="2200"/>
          </a:p>
          <a:p>
            <a:pPr lvl="0"/>
            <a:r>
              <a:rPr lang="en-GB" sz="2200"/>
              <a:t>Structure is extracted before retrieval chunks are built</a:t>
            </a:r>
            <a:endParaRPr lang="en-GB" sz="2200"/>
          </a:p>
          <a:p>
            <a:pPr lvl="0"/>
            <a:r>
              <a:rPr lang="en-GB" sz="2200"/>
              <a:t>The pipeline stores both structural and retrieval representations</a:t>
            </a:r>
            <a:endParaRPr lang="en-GB" sz="2200"/>
          </a:p>
          <a:p>
            <a:pPr lvl="0"/>
            <a:r>
              <a:rPr lang="en-GB" sz="2200"/>
              <a:t>Chunking strategy controls retrieval granularity</a:t>
            </a:r>
            <a:endParaRPr lang="en-GB"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1F1F"/>
      </a:dk2>
      <a:lt2>
        <a:srgbClr val="F5F5F5"/>
      </a:lt2>
      <a:accent1>
        <a:srgbClr val="1F5A75"/>
      </a:accent1>
      <a:accent2>
        <a:srgbClr val="5B8C5A"/>
      </a:accent2>
      <a:accent3>
        <a:srgbClr val="B66A3C"/>
      </a:accent3>
      <a:accent4>
        <a:srgbClr val="7A5C99"/>
      </a:accent4>
      <a:accent5>
        <a:srgbClr val="9D3D3D"/>
      </a:accent5>
      <a:accent6>
        <a:srgbClr val="4E7A8F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/>
      <a:lnStyleLst/>
      <a:effectStyleLst/>
      <a:bgFillStyleLst/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20</Slides>
  <Notes>20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 Extraction And Chunking In The RAG Pipeline</dc:title>
  <dc:creator>OpenAI Codex</dc:creator>
  <cp:lastModifiedBy>OpenAI Codex</cp:lastModifiedBy>
  <dcterms:created xsi:type="dcterms:W3CDTF">2026-04-10T23:38:32Z</dcterms:created>
  <dcterms:modified xsi:type="dcterms:W3CDTF">2026-04-10T23:38:32Z</dcterms:modified>
</cp:coreProperties>
</file>